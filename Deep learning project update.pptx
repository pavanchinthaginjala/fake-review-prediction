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62" r:id="rId5"/>
    <p:sldId id="259" r:id="rId6"/>
    <p:sldId id="260" r:id="rId7"/>
    <p:sldId id="261" r:id="rId8"/>
    <p:sldId id="265" r:id="rId9"/>
    <p:sldId id="266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E844FB-8EE9-407D-8376-4DCA54013961}" v="19" dt="2025-07-02T10:49:37.3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71FF-48A1-10D4-3E61-B8E5572E5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1FBB0-B872-DDEC-CDAC-F99656FAD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26F71-C3E0-5E5D-29A4-F4874CA2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3B657-B006-38D9-F2B5-5056E831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89D53-64F2-03B9-9282-4273C34B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03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3F82-584A-7304-E7E4-4177FDBB8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05DCD-5B4E-3F27-FDBE-D0E450FB5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C4149-7432-6B5D-0D55-983F4829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0B500-56B2-9542-DC68-07C9188A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C08ED-BC88-FC50-64D2-B731739F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98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F3B97-9BDF-43C6-1BEA-F41FC88C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EEACD-1E39-C124-9485-922FEF3A8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5C3E6-65D1-FF85-D925-74B5D6BC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6A16E-06FA-BF04-1D72-9D4D197A4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3D4C7-4620-96F1-4910-6D939AA7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248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4A560-5B74-7492-2804-0F43E9BF7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8B68F-981E-D64F-0931-85ADF479AC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F3586-415D-7741-87F8-4A543890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5C1AF-F1CC-8197-7D58-2CC65CF8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1292D-D737-9CDC-6733-791723EB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C4A71-4324-81F3-ED3A-442AEACD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486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3EDE3-B203-69CA-0945-4DE642DBE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4AB47-C34A-A007-607A-D72C8D207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36BF-E757-C59F-9D54-47C47B358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D51535-F810-3458-4507-FF03596A8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B68CA-4673-4E2E-B33C-C164F5DE8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7B96F-E9F7-A42D-E6B1-AB2AC1EB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DAFDF3-E54E-A2B7-5D3A-BA1AAF39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58528-2372-92D1-62FB-C9E3A71C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708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BEACD-7C10-D542-630A-B407D3894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3751A-6579-5177-8E5B-6F8B7171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760B0-D81A-A610-5559-22C90EDF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C267C-3B84-1897-9D04-9E473B64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288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434DB-3233-0F81-AB9E-3E1E6B06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BE707-296A-8FC9-7D34-DE8A864C6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D17D8-794D-45ED-6E1E-8768E111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96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3CA8E-E57B-2C53-6A7B-13BDE4D3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57CB3-1A5A-9D66-E1E0-3818C2D52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0EC35-D2E5-FF4C-3C5F-65FD14E41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ACEEB-8FE5-1529-0B27-E1BC2DA9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3FF6A-76D8-6600-81D4-54C90E09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713AD-9C4C-3068-AFD1-49A6D4A3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31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51AEC-FC35-1A85-90AB-79EACEEE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B91F91-C715-B3D3-01AE-6C7A387CF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D5CDF-FBBB-8454-608A-CCB4E310C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40F85-BF19-6AB5-331C-8EF966D11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1B28D-D616-3E2C-9A34-C6AC52DC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0A9BA-0EDD-99B9-4549-4953D36F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922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E025-744E-D7F0-01FF-40E2E252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1276F-74B7-8987-05E3-14C32FADD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2A80A-AB1C-D229-BC50-A2773545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6B66-2C17-29FE-3865-6FC1BCAF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EA5A9-7717-C21F-12B3-6F9297D2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678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4E2F42-9BD4-BA89-FB30-EC77CADF4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4D03E-530A-84E7-F998-D8A8A2C5F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9EF8D-19F3-12F5-A3CC-DF76041A2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B5422-A179-41EF-519A-FB0BB01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40CDB-D67E-2812-7659-EF72B72F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57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EBA1D7-7076-1247-D0A3-DBA37DA07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C19D3-6667-C830-8750-5D86E8781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5798D-C376-8A2B-0B22-43CD0B0B8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2F5B0-DFD8-4A6F-959E-4422F440C16C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6B7E8-2607-B7AD-08C6-3EDD41601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16462-1D07-7275-D4B5-5440E3973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EB23E-84EA-4833-90F7-5865CF931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68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osf.io/tyue9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C76B9-3C12-4EA7-1046-85D06717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1F932C-E7C5-AFD5-84A5-B17B535C8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729" y="1764407"/>
            <a:ext cx="9620438" cy="2310312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A Scalable Deep Learning Approach for Identifying AI-Generated Content in User Reviews</a:t>
            </a:r>
            <a:endParaRPr lang="en-IN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247A7-8851-8652-0C5D-0A150F774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1829" y="4165152"/>
            <a:ext cx="8131628" cy="23103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2"/>
                </a:solidFill>
              </a:rPr>
              <a:t>Names:</a:t>
            </a:r>
          </a:p>
          <a:p>
            <a:r>
              <a:rPr lang="en-IN" dirty="0">
                <a:solidFill>
                  <a:schemeClr val="tx2"/>
                </a:solidFill>
              </a:rPr>
              <a:t>Venkata Krishna Reddy Modem    </a:t>
            </a:r>
          </a:p>
          <a:p>
            <a:r>
              <a:rPr lang="en-IN" dirty="0">
                <a:solidFill>
                  <a:schemeClr val="tx2"/>
                </a:solidFill>
              </a:rPr>
              <a:t>Mahesh Ram Gunturu</a:t>
            </a:r>
          </a:p>
          <a:p>
            <a:r>
              <a:rPr lang="en-IN" dirty="0">
                <a:solidFill>
                  <a:schemeClr val="tx2"/>
                </a:solidFill>
              </a:rPr>
              <a:t>Pavan Kumar </a:t>
            </a:r>
            <a:r>
              <a:rPr lang="en-IN" dirty="0" err="1">
                <a:solidFill>
                  <a:schemeClr val="tx2"/>
                </a:solidFill>
              </a:rPr>
              <a:t>Chinthaginjala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394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91B2AC-E864-85A6-40F5-71F2C00AD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957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/>
              <a:t>Problem Background</a:t>
            </a:r>
            <a:br>
              <a:rPr lang="en-US" sz="4200" b="1"/>
            </a:br>
            <a:endParaRPr lang="en-IN" sz="4200"/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28EE5-E753-ABFF-7142-FDA22A901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Rise of </a:t>
            </a:r>
            <a:r>
              <a:rPr lang="en-US" sz="2200" b="1"/>
              <a:t>AI-generated content</a:t>
            </a:r>
            <a:r>
              <a:rPr lang="en-US" sz="2200"/>
              <a:t> through LLMs (e.g., ChatGPT, Gemini, Claude) threatens the </a:t>
            </a:r>
            <a:r>
              <a:rPr lang="en-US" sz="2200" b="1"/>
              <a:t>authenticity</a:t>
            </a:r>
            <a:r>
              <a:rPr lang="en-US" sz="2200"/>
              <a:t> of online reviews.</a:t>
            </a:r>
          </a:p>
          <a:p>
            <a:r>
              <a:rPr lang="en-US" sz="2200"/>
              <a:t>Businesses can be </a:t>
            </a:r>
            <a:r>
              <a:rPr lang="en-US" sz="2200" b="1"/>
              <a:t>misled by synthetic reviews</a:t>
            </a:r>
            <a:r>
              <a:rPr lang="en-US" sz="2200"/>
              <a:t>—impacting decisions and trust.</a:t>
            </a:r>
          </a:p>
          <a:p>
            <a:r>
              <a:rPr lang="en-US" sz="2200"/>
              <a:t>Manual detection is </a:t>
            </a:r>
            <a:r>
              <a:rPr lang="en-US" sz="2200" b="1"/>
              <a:t>inefficient</a:t>
            </a:r>
            <a:r>
              <a:rPr lang="en-US" sz="2200"/>
              <a:t> and unreliable.</a:t>
            </a:r>
          </a:p>
          <a:p>
            <a:r>
              <a:rPr lang="en-US" sz="2200"/>
              <a:t>Need for a </a:t>
            </a:r>
            <a:r>
              <a:rPr lang="en-US" sz="2200" b="1"/>
              <a:t>robust, automated detection system</a:t>
            </a:r>
            <a:r>
              <a:rPr lang="en-US" sz="2200"/>
              <a:t>.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931975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0FD21F-3297-92AA-3FE9-42346DD5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200" b="1"/>
              <a:t>Research Aim &amp; Objectives</a:t>
            </a:r>
            <a:br>
              <a:rPr lang="en-IN" sz="4200" b="1"/>
            </a:br>
            <a:endParaRPr lang="en-IN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091E1-CC0A-ADB4-E7D2-E9EDE2ACC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N" sz="2200" b="1" dirty="0"/>
              <a:t>Aim:</a:t>
            </a:r>
            <a:r>
              <a:rPr lang="en-IN" sz="2200" dirty="0"/>
              <a:t> To develop a deep learning model to accurately detect LLM-generated online reviews.</a:t>
            </a:r>
          </a:p>
          <a:p>
            <a:r>
              <a:rPr lang="en-IN" sz="2200" b="1" dirty="0"/>
              <a:t>Objectives:</a:t>
            </a:r>
            <a:endParaRPr lang="en-IN" sz="2200" dirty="0"/>
          </a:p>
          <a:p>
            <a:pPr lvl="1"/>
            <a:r>
              <a:rPr lang="en-IN" sz="2200" dirty="0"/>
              <a:t>Use dataset with real vs. LLM-generated reviews.</a:t>
            </a:r>
          </a:p>
          <a:p>
            <a:pPr lvl="1"/>
            <a:r>
              <a:rPr lang="en-IN" sz="2200" dirty="0"/>
              <a:t>Design and train a </a:t>
            </a:r>
            <a:r>
              <a:rPr lang="en-IN" sz="2200" b="1" dirty="0"/>
              <a:t>CNN + Bi-GRU hybrid model</a:t>
            </a:r>
            <a:r>
              <a:rPr lang="en-IN" sz="2200" dirty="0"/>
              <a:t>.</a:t>
            </a:r>
          </a:p>
          <a:p>
            <a:pPr lvl="1"/>
            <a:r>
              <a:rPr lang="en-IN" sz="2200" dirty="0"/>
              <a:t>Compare performance with baseline models (e.g., SVM, Random forest, Gru, LSTM).</a:t>
            </a:r>
          </a:p>
          <a:p>
            <a:pPr lvl="1"/>
            <a:r>
              <a:rPr lang="en-IN" sz="2200" dirty="0"/>
              <a:t>Evaluate detection robustness across topics and LLM types.</a:t>
            </a: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753782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CCEE2-F03A-7923-658C-2A2EBE8A7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200" b="1"/>
              <a:t>Literature Review Highlights</a:t>
            </a:r>
            <a:br>
              <a:rPr lang="en-IN" sz="4200" b="1"/>
            </a:br>
            <a:endParaRPr lang="en-IN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01A28-1F31-FA70-4C95-033C2FFA2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N" sz="2200" b="1"/>
              <a:t>Stylometry &amp; N-grams</a:t>
            </a:r>
            <a:r>
              <a:rPr lang="en-IN" sz="2200"/>
              <a:t>: Early methods; low accuracy and poor generalization.</a:t>
            </a:r>
          </a:p>
          <a:p>
            <a:r>
              <a:rPr lang="en-IN" sz="2200" b="1"/>
              <a:t>Transformer models</a:t>
            </a:r>
            <a:r>
              <a:rPr lang="en-IN" sz="2200"/>
              <a:t> (e.g., RoBERTa): High accuracy but </a:t>
            </a:r>
            <a:r>
              <a:rPr lang="en-IN" sz="2200" b="1"/>
              <a:t>computationally expensive</a:t>
            </a:r>
            <a:r>
              <a:rPr lang="en-IN" sz="2200"/>
              <a:t>.</a:t>
            </a:r>
          </a:p>
          <a:p>
            <a:r>
              <a:rPr lang="en-IN" sz="2200" b="1"/>
              <a:t>CNNs</a:t>
            </a:r>
            <a:r>
              <a:rPr lang="en-IN" sz="2200"/>
              <a:t>: Capture </a:t>
            </a:r>
            <a:r>
              <a:rPr lang="en-IN" sz="2200" b="1"/>
              <a:t>local patterns</a:t>
            </a:r>
            <a:r>
              <a:rPr lang="en-IN" sz="2200"/>
              <a:t> (e.g., repeated phrases) with </a:t>
            </a:r>
            <a:r>
              <a:rPr lang="en-IN" sz="2200" b="1"/>
              <a:t>low overhead</a:t>
            </a:r>
            <a:r>
              <a:rPr lang="en-IN" sz="2200"/>
              <a:t>.</a:t>
            </a:r>
          </a:p>
          <a:p>
            <a:r>
              <a:rPr lang="en-IN" sz="2200" b="1"/>
              <a:t>BiGRUs</a:t>
            </a:r>
            <a:r>
              <a:rPr lang="en-IN" sz="2200"/>
              <a:t>: Efficiently capture </a:t>
            </a:r>
            <a:r>
              <a:rPr lang="en-IN" sz="2200" b="1"/>
              <a:t>global context</a:t>
            </a:r>
            <a:r>
              <a:rPr lang="en-IN" sz="2200"/>
              <a:t> with fewer parameters than LSTMs.</a:t>
            </a:r>
          </a:p>
          <a:p>
            <a:r>
              <a:rPr lang="en-IN" sz="2200" b="1"/>
              <a:t>CNN + BiGRU</a:t>
            </a:r>
            <a:r>
              <a:rPr lang="en-IN" sz="2200"/>
              <a:t>: A </a:t>
            </a:r>
            <a:r>
              <a:rPr lang="en-IN" sz="2200" b="1"/>
              <a:t>lightweight hybrid</a:t>
            </a:r>
            <a:r>
              <a:rPr lang="en-IN" sz="2200"/>
              <a:t> combining speed and sequence understanding—ideal for </a:t>
            </a:r>
            <a:r>
              <a:rPr lang="en-IN" sz="2200" b="1"/>
              <a:t>fast, real-time detection</a:t>
            </a:r>
            <a:r>
              <a:rPr lang="en-IN" sz="2200"/>
              <a:t>.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1000337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4B0243-9CEE-8F69-C768-D30036AC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200" b="1"/>
              <a:t>Proposed Methodology</a:t>
            </a:r>
            <a:br>
              <a:rPr lang="en-IN" sz="4200" b="1"/>
            </a:br>
            <a:endParaRPr lang="en-IN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817D6-19AB-41B4-00BA-B7E701203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N" sz="2200" b="1" dirty="0"/>
              <a:t>Dataset:</a:t>
            </a:r>
            <a:r>
              <a:rPr lang="en-IN" sz="2200" dirty="0"/>
              <a:t> Combination of real online reviews and LLM-generated reviews from LLMs.</a:t>
            </a:r>
          </a:p>
          <a:p>
            <a:r>
              <a:rPr lang="en-IN" sz="2200" b="1" dirty="0"/>
              <a:t>Model Architecture:</a:t>
            </a:r>
            <a:endParaRPr lang="en-IN" sz="2200" dirty="0"/>
          </a:p>
          <a:p>
            <a:pPr lvl="1"/>
            <a:r>
              <a:rPr lang="en-IN" sz="2200" b="1" dirty="0"/>
              <a:t>CNN layer</a:t>
            </a:r>
            <a:r>
              <a:rPr lang="en-IN" sz="2200" dirty="0"/>
              <a:t>: Extracts n-gram-like features.</a:t>
            </a:r>
          </a:p>
          <a:p>
            <a:pPr lvl="1"/>
            <a:r>
              <a:rPr lang="en-IN" sz="2200" b="1" dirty="0"/>
              <a:t>Bi-GRU layer</a:t>
            </a:r>
            <a:r>
              <a:rPr lang="en-IN" sz="2200" dirty="0"/>
              <a:t>: Captures bidirectional dependencies.</a:t>
            </a:r>
          </a:p>
          <a:p>
            <a:pPr lvl="1"/>
            <a:r>
              <a:rPr lang="en-IN" sz="2200" b="1" dirty="0"/>
              <a:t>Dense layer + </a:t>
            </a:r>
            <a:r>
              <a:rPr lang="en-IN" sz="2200" b="1" dirty="0" err="1"/>
              <a:t>Softmax</a:t>
            </a:r>
            <a:r>
              <a:rPr lang="en-IN" sz="2200" dirty="0"/>
              <a:t>: Final binary classification (real vs LLM-generated).</a:t>
            </a:r>
          </a:p>
          <a:p>
            <a:r>
              <a:rPr lang="en-IN" sz="2200" b="1" dirty="0"/>
              <a:t>Preprocessing:</a:t>
            </a:r>
            <a:r>
              <a:rPr lang="en-IN" sz="2200" dirty="0"/>
              <a:t> Tokenization, padding, lowercasing.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698071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62017-EBDE-702F-53CE-DB4A65E1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200" b="1"/>
              <a:t>Tools &amp; Technologies</a:t>
            </a:r>
            <a:br>
              <a:rPr lang="en-IN" sz="4200" b="1"/>
            </a:br>
            <a:endParaRPr lang="en-IN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8AE22-1480-8679-DD1F-84B6D0A1C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N" sz="2200" b="1" dirty="0"/>
              <a:t>Programming Language:</a:t>
            </a:r>
            <a:r>
              <a:rPr lang="en-IN" sz="2200" dirty="0"/>
              <a:t> Python</a:t>
            </a:r>
          </a:p>
          <a:p>
            <a:r>
              <a:rPr lang="en-IN" sz="2200" b="1" dirty="0"/>
              <a:t>Frameworks:</a:t>
            </a:r>
            <a:r>
              <a:rPr lang="en-IN" sz="2200" dirty="0"/>
              <a:t> TensorFlow / </a:t>
            </a:r>
            <a:r>
              <a:rPr lang="en-IN" sz="2200" dirty="0" err="1"/>
              <a:t>Keras</a:t>
            </a:r>
            <a:endParaRPr lang="en-IN" sz="2200" dirty="0"/>
          </a:p>
          <a:p>
            <a:r>
              <a:rPr lang="en-IN" sz="2200" b="1" dirty="0"/>
              <a:t>Libraries:</a:t>
            </a:r>
            <a:r>
              <a:rPr lang="en-IN" sz="2200" dirty="0"/>
              <a:t> NLTK, </a:t>
            </a:r>
            <a:r>
              <a:rPr lang="en-IN" sz="2200" dirty="0" err="1"/>
              <a:t>Scikit</a:t>
            </a:r>
            <a:r>
              <a:rPr lang="en-IN" sz="2200" dirty="0"/>
              <a:t>-learn, NumPy, Matplotlib</a:t>
            </a:r>
          </a:p>
          <a:p>
            <a:r>
              <a:rPr lang="en-IN" sz="2200" b="1" dirty="0"/>
              <a:t>Dataset Sources:</a:t>
            </a:r>
            <a:r>
              <a:rPr lang="en-IN" sz="2200" dirty="0"/>
              <a:t> </a:t>
            </a:r>
            <a:r>
              <a:rPr lang="en-IN" sz="2200" dirty="0">
                <a:hlinkClick r:id="rId2"/>
              </a:rPr>
              <a:t>https://osf.io/tyue9/</a:t>
            </a:r>
            <a:endParaRPr lang="en-IN" sz="2200" dirty="0"/>
          </a:p>
          <a:p>
            <a:r>
              <a:rPr lang="en-IN" sz="2200" b="1" dirty="0"/>
              <a:t>Evaluation Metrics:</a:t>
            </a:r>
            <a:r>
              <a:rPr lang="en-IN" sz="2200" dirty="0"/>
              <a:t> Accuracy, Precision, Recall, F1-score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98916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F7368-2C17-A671-153B-E54297BB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Evaluation Metrics</a:t>
            </a:r>
            <a:br>
              <a:rPr lang="en-US" sz="4000" b="1" dirty="0"/>
            </a:br>
            <a:br>
              <a:rPr lang="en-IN" sz="4200" b="1" dirty="0"/>
            </a:br>
            <a:endParaRPr lang="en-IN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EFD0-A642-C91A-12EA-DFA69A35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37884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Metrics Used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Accuracy: Percentage of correct predictions.</a:t>
            </a:r>
          </a:p>
          <a:p>
            <a:pPr lvl="1"/>
            <a:r>
              <a:rPr lang="en-US" dirty="0"/>
              <a:t>Precision: How many predicted LLM reviews were actually fake.</a:t>
            </a:r>
          </a:p>
          <a:p>
            <a:pPr lvl="1"/>
            <a:r>
              <a:rPr lang="en-US" dirty="0"/>
              <a:t>Recall: How many actual fake reviews were detected.</a:t>
            </a:r>
          </a:p>
          <a:p>
            <a:pPr lvl="1"/>
            <a:r>
              <a:rPr lang="en-US" dirty="0"/>
              <a:t>F1-Score: Balance between precision and recall.</a:t>
            </a:r>
          </a:p>
          <a:p>
            <a:pPr lvl="1"/>
            <a:r>
              <a:rPr lang="en-US" dirty="0"/>
              <a:t>Confusion Matrix: Visual summary of correct/incorrect predictions.</a:t>
            </a: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74026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F7368-2C17-A671-153B-E54297BB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200" b="1" dirty="0"/>
              <a:t>Methodology</a:t>
            </a:r>
            <a:br>
              <a:rPr lang="en-IN" sz="4200" b="1" dirty="0"/>
            </a:br>
            <a:endParaRPr lang="en-IN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EFD0-A642-C91A-12EA-DFA69A35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2831"/>
            <a:ext cx="10515600" cy="41085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Dataset Loading &amp; Cleaning</a:t>
            </a:r>
            <a:endParaRPr lang="en-IN" dirty="0"/>
          </a:p>
          <a:p>
            <a:pPr lvl="1"/>
            <a:r>
              <a:rPr lang="en-IN" dirty="0"/>
              <a:t>Real and AI-generated Removed duplicates, punctuation, </a:t>
            </a:r>
            <a:r>
              <a:rPr lang="en-IN" dirty="0" err="1"/>
              <a:t>stopwords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Preprocessing</a:t>
            </a:r>
            <a:endParaRPr lang="en-IN" dirty="0"/>
          </a:p>
          <a:p>
            <a:pPr lvl="1"/>
            <a:r>
              <a:rPr lang="en-IN" dirty="0"/>
              <a:t>Tokenization, lemmatization, lowercasing</a:t>
            </a:r>
          </a:p>
          <a:p>
            <a:pPr lvl="1"/>
            <a:r>
              <a:rPr lang="en-IN" dirty="0"/>
              <a:t>Truncated text to 900 characters</a:t>
            </a:r>
          </a:p>
          <a:p>
            <a:pPr marL="0" indent="0">
              <a:buNone/>
            </a:pPr>
            <a:r>
              <a:rPr lang="en-IN" b="1" dirty="0"/>
              <a:t>Vectorization</a:t>
            </a:r>
            <a:endParaRPr lang="en-IN" dirty="0"/>
          </a:p>
          <a:p>
            <a:pPr lvl="1"/>
            <a:r>
              <a:rPr lang="en-IN" dirty="0"/>
              <a:t>TF-IDF for ML models, tokenizer + padding for DL models</a:t>
            </a:r>
          </a:p>
          <a:p>
            <a:pPr marL="0" indent="0">
              <a:buNone/>
            </a:pPr>
            <a:r>
              <a:rPr lang="en-IN" b="1" dirty="0"/>
              <a:t>Model Training</a:t>
            </a:r>
            <a:endParaRPr lang="en-IN" dirty="0"/>
          </a:p>
          <a:p>
            <a:pPr lvl="1"/>
            <a:r>
              <a:rPr lang="en-IN" dirty="0"/>
              <a:t>Logistic Regression, XGBoost, LightGBM</a:t>
            </a:r>
          </a:p>
          <a:p>
            <a:pPr lvl="1"/>
            <a:r>
              <a:rPr lang="en-IN" dirty="0"/>
              <a:t>LSTM, GRU, CNN + Bi-GRU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63297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F7368-2C17-A671-153B-E54297BB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200" b="1" dirty="0"/>
              <a:t>Models</a:t>
            </a:r>
            <a:br>
              <a:rPr lang="en-IN" sz="4200" b="1" dirty="0"/>
            </a:br>
            <a:endParaRPr lang="en-IN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EFD0-A642-C91A-12EA-DFA69A35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Logistic Regression</a:t>
            </a:r>
            <a:r>
              <a:rPr lang="en-US" sz="2400" dirty="0"/>
              <a:t>: A simple linear classifier used as a baseline for detecting text patterns.</a:t>
            </a:r>
          </a:p>
          <a:p>
            <a:r>
              <a:rPr lang="en-US" sz="2400" b="1" dirty="0" err="1"/>
              <a:t>XGBoost</a:t>
            </a:r>
            <a:r>
              <a:rPr lang="en-US" sz="2400" dirty="0"/>
              <a:t>: A powerful gradient boosting method that captures feature importance well.</a:t>
            </a:r>
          </a:p>
          <a:p>
            <a:r>
              <a:rPr lang="en-US" sz="2400" b="1" dirty="0" err="1"/>
              <a:t>LightGBM</a:t>
            </a:r>
            <a:r>
              <a:rPr lang="en-US" sz="2400" dirty="0"/>
              <a:t>: Fast and scalable boosting framework, good for structured text features.</a:t>
            </a:r>
          </a:p>
          <a:p>
            <a:r>
              <a:rPr lang="en-US" sz="2400" b="1" dirty="0"/>
              <a:t>LSTM</a:t>
            </a:r>
            <a:r>
              <a:rPr lang="en-US" sz="2400" dirty="0"/>
              <a:t>: Long Short-Term Memory network captures long-range dependencies in sequential data.</a:t>
            </a:r>
          </a:p>
          <a:p>
            <a:r>
              <a:rPr lang="en-US" sz="2400" b="1" dirty="0"/>
              <a:t>Bi-GRU</a:t>
            </a:r>
            <a:r>
              <a:rPr lang="en-US" sz="2400" dirty="0"/>
              <a:t>: Bi directional Gated Recurrent Unit is similar to LSTM but more efficient and faster to train.</a:t>
            </a:r>
          </a:p>
          <a:p>
            <a:r>
              <a:rPr lang="en-US" sz="2400" b="1" dirty="0"/>
              <a:t>CNN + Bi-GRU</a:t>
            </a:r>
            <a:r>
              <a:rPr lang="en-US" sz="2400" dirty="0"/>
              <a:t>: A hybrid model that captures both local word patterns and bidirectional context.</a:t>
            </a: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76981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F7368-2C17-A671-153B-E54297BB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200" b="1" dirty="0"/>
              <a:t>Results</a:t>
            </a:r>
            <a:br>
              <a:rPr lang="en-IN" sz="4200" b="1" dirty="0"/>
            </a:br>
            <a:endParaRPr lang="en-IN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08ABCC-82E5-4C32-AA74-C7B64B4E16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9061062"/>
              </p:ext>
            </p:extLst>
          </p:nvPr>
        </p:nvGraphicFramePr>
        <p:xfrm>
          <a:off x="5229225" y="2228850"/>
          <a:ext cx="6662735" cy="41371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2841229094"/>
                    </a:ext>
                  </a:extLst>
                </a:gridCol>
                <a:gridCol w="1243013">
                  <a:extLst>
                    <a:ext uri="{9D8B030D-6E8A-4147-A177-3AD203B41FA5}">
                      <a16:colId xmlns:a16="http://schemas.microsoft.com/office/drawing/2014/main" val="484575219"/>
                    </a:ext>
                  </a:extLst>
                </a:gridCol>
                <a:gridCol w="1357312">
                  <a:extLst>
                    <a:ext uri="{9D8B030D-6E8A-4147-A177-3AD203B41FA5}">
                      <a16:colId xmlns:a16="http://schemas.microsoft.com/office/drawing/2014/main" val="291719357"/>
                    </a:ext>
                  </a:extLst>
                </a:gridCol>
                <a:gridCol w="1158238">
                  <a:extLst>
                    <a:ext uri="{9D8B030D-6E8A-4147-A177-3AD203B41FA5}">
                      <a16:colId xmlns:a16="http://schemas.microsoft.com/office/drawing/2014/main" val="1890559627"/>
                    </a:ext>
                  </a:extLst>
                </a:gridCol>
                <a:gridCol w="1332547">
                  <a:extLst>
                    <a:ext uri="{9D8B030D-6E8A-4147-A177-3AD203B41FA5}">
                      <a16:colId xmlns:a16="http://schemas.microsoft.com/office/drawing/2014/main" val="1695015894"/>
                    </a:ext>
                  </a:extLst>
                </a:gridCol>
              </a:tblGrid>
              <a:tr h="517791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738615"/>
                  </a:ext>
                </a:extLst>
              </a:tr>
              <a:tr h="517791">
                <a:tc>
                  <a:txBody>
                    <a:bodyPr/>
                    <a:lstStyle/>
                    <a:p>
                      <a:r>
                        <a:rPr lang="en-IN" dirty="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0.83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197859"/>
                  </a:ext>
                </a:extLst>
              </a:tr>
              <a:tr h="908121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276556"/>
                  </a:ext>
                </a:extLst>
              </a:tr>
              <a:tr h="517791">
                <a:tc>
                  <a:txBody>
                    <a:bodyPr/>
                    <a:lstStyle/>
                    <a:p>
                      <a:r>
                        <a:rPr lang="en-IN" dirty="0"/>
                        <a:t>LightGBM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386977"/>
                  </a:ext>
                </a:extLst>
              </a:tr>
              <a:tr h="517791">
                <a:tc>
                  <a:txBody>
                    <a:bodyPr/>
                    <a:lstStyle/>
                    <a:p>
                      <a:r>
                        <a:rPr lang="en-IN"/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73823"/>
                  </a:ext>
                </a:extLst>
              </a:tr>
              <a:tr h="517791">
                <a:tc>
                  <a:txBody>
                    <a:bodyPr/>
                    <a:lstStyle/>
                    <a:p>
                      <a:r>
                        <a:rPr lang="en-IN"/>
                        <a:t>GRU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253673"/>
                  </a:ext>
                </a:extLst>
              </a:tr>
              <a:tr h="635685">
                <a:tc>
                  <a:txBody>
                    <a:bodyPr/>
                    <a:lstStyle/>
                    <a:p>
                      <a:r>
                        <a:rPr lang="en-IN"/>
                        <a:t>CNN + Bi-GRU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260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86A5F09-99EA-4E2E-B303-B56ED1201ED2}"/>
              </a:ext>
            </a:extLst>
          </p:cNvPr>
          <p:cNvSpPr txBox="1"/>
          <p:nvPr/>
        </p:nvSpPr>
        <p:spPr>
          <a:xfrm>
            <a:off x="300038" y="2400300"/>
            <a:ext cx="49291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Performance Comparison</a:t>
            </a:r>
            <a:r>
              <a:rPr lang="en-US" dirty="0"/>
              <a:t> As shown in the table, deep learning models—especially CNN + Bi-GRU—achieved significantly higher scores across all evaluation metrics. This highlights their superior ability to model textual and contextual patterns in review data compared to traditional machine learning approaches.</a:t>
            </a:r>
          </a:p>
        </p:txBody>
      </p:sp>
    </p:spTree>
    <p:extLst>
      <p:ext uri="{BB962C8B-B14F-4D97-AF65-F5344CB8AC3E}">
        <p14:creationId xmlns:p14="http://schemas.microsoft.com/office/powerpoint/2010/main" val="1406933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F7368-2C17-A671-153B-E54297BB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Conclusion</a:t>
            </a:r>
            <a:br>
              <a:rPr lang="en-IN" dirty="0"/>
            </a:br>
            <a:br>
              <a:rPr lang="en-IN" sz="4200" b="1" dirty="0"/>
            </a:br>
            <a:endParaRPr lang="en-IN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EFD0-A642-C91A-12EA-DFA69A35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5805488" cy="4251960"/>
          </a:xfrm>
        </p:spPr>
        <p:txBody>
          <a:bodyPr>
            <a:normAutofit/>
          </a:bodyPr>
          <a:lstStyle/>
          <a:p>
            <a:r>
              <a:rPr lang="en-US" sz="2400" dirty="0"/>
              <a:t>CNN + Bi-GRU achieved the best accuracy and generalization.</a:t>
            </a:r>
            <a:endParaRPr lang="en-IN" sz="2400" dirty="0"/>
          </a:p>
          <a:p>
            <a:r>
              <a:rPr lang="en-IN" sz="2400" dirty="0"/>
              <a:t>A high-performing deep learning model for LLM-generated text detection.</a:t>
            </a:r>
          </a:p>
          <a:p>
            <a:r>
              <a:rPr lang="en-IN" sz="2400" dirty="0"/>
              <a:t>Benchmark results comparing hybrid vs traditional and transformer models.</a:t>
            </a:r>
          </a:p>
          <a:p>
            <a:r>
              <a:rPr lang="en-IN" sz="2400" dirty="0"/>
              <a:t>Contribution to AI safety and digital content authenticity.</a:t>
            </a:r>
          </a:p>
          <a:p>
            <a:r>
              <a:rPr lang="en-IN" sz="2400" dirty="0"/>
              <a:t>Developed a lightweight hybrid deep learning model that detects fake reviews effectively.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367CD-51BE-43D2-8204-860AC02DB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576" y="2052934"/>
            <a:ext cx="5433585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14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EFD0-A642-C91A-12EA-DFA69A35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3429000"/>
            <a:ext cx="4014788" cy="10712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6000" b="1" dirty="0"/>
              <a:t>THANK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155779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673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 Scalable Deep Learning Approach for Identifying AI-Generated Content in User Reviews</vt:lpstr>
      <vt:lpstr>Problem Background </vt:lpstr>
      <vt:lpstr>Research Aim &amp; Objectives </vt:lpstr>
      <vt:lpstr>Literature Review Highlights </vt:lpstr>
      <vt:lpstr>Proposed Methodology </vt:lpstr>
      <vt:lpstr>Tools &amp; Technologies </vt:lpstr>
      <vt:lpstr>Evaluation Metrics  </vt:lpstr>
      <vt:lpstr>Methodology </vt:lpstr>
      <vt:lpstr>Models </vt:lpstr>
      <vt:lpstr>Results </vt:lpstr>
      <vt:lpstr>Conclusion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Scalable Deep Learning Approach for Identifying AI-Generated Content in User Reviews</dc:title>
  <dc:creator>Dupati Srikar chandra</dc:creator>
  <cp:lastModifiedBy>Venkata Krishna Reddy Modem</cp:lastModifiedBy>
  <cp:revision>8</cp:revision>
  <dcterms:created xsi:type="dcterms:W3CDTF">2025-07-02T10:41:55Z</dcterms:created>
  <dcterms:modified xsi:type="dcterms:W3CDTF">2025-07-16T18:28:07Z</dcterms:modified>
</cp:coreProperties>
</file>